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22"/>
    <p:sldId id="272" r:id="rId23"/>
    <p:sldId id="267" r:id="rId13"/>
    <p:sldId id="268" r:id="rId14"/>
    <p:sldId id="269" r:id="rId15"/>
    <p:sldId id="270" r:id="rId16"/>
    <p:sldId id="273" r:id="rId24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Pruebas aprobadas</c:v>
                </c:pt>
              </c:strCache>
            </c:strRef>
          </c:tx>
          <c:spPr>
            <a:solidFill>
              <a:srgbClr val="6F83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Calculadoras</c:v>
                  </c:pt>
                  <c:pt idx="1">
                    <c:v>Sesión</c:v>
                  </c:pt>
                  <c:pt idx="2">
                    <c:v>Catálogo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7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A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50" b="0" i="0" u="none" strike="noStrike">
                <a:solidFill>
                  <a:srgbClr val="1F2A3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b"/>
        <c:majorGridlines>
          <c:spPr>
            <a:ln w="6350" cap="flat">
              <a:solidFill>
                <a:srgbClr val="EDF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Presentamos MaqAgr: una plataforma que calcula la potencia necesaria para combinar un tractor con una maquinaria agrícola, con un catálogo verificable y funcionamiento 100 % offline. Todo lo que veremos hoy está verificado en el navegador sobre la versión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falta de teoría: es que aplicarla a mano, con datos incompletos, es lento y propenso a errores. Ejemplo concreto: un tractor de 350 HP frente a una rastra de 2 m — ¿alcanza? Hoy eso se resuelve a ojo.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tiene tres calculadoras que se corresponden con las tres preguntas reales del productor, más un catálogo con ficha técnica por modelo. Nada se responde “a sentimiento”: cada número sale del modelo v3 validado por el profesor.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de tres capas, todas locales: React 19 con Vite en el navegador, Express 5 sobre Node 24 como API, y PostgreSQL 17 portable como base de datos. No hay servicios en la nube: la app y la base de datos se instalan juntas con un único instalador.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catálogo no es una muestra: son 3.043 tractores y 291 implementos con cero campos faltantes, verificado por compuerta de API. Además, 31 tractores prioritarios tienen ficha técnica oficial del fabricante. El modelo cubre los cuatro tipos de tracción.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es un mockup: es el catálogo corriendo en el navegador durante la corrida de verificación. A la izquierda la grilla con imágenes y ficha técnica; a la derecha, la búsqueda filtrando por marca al instante. Las ocho pruebas del área de catálogo pasaron.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también está probada de punta a punta: una contraseña débil no crea la cuenta, el usuario registrado se ve logueado, cierra sesión y vuelve a entrar. El login con contraseña incorrecta devuelve 401 — lo verificamos tanto en la interfaz como por compuerta de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calculadora responde “¿qué puede hacer mi tractor?”. En lugar de tipear datos a mano, el buscador flotante abre el catálogo completo, filtra y, al elegir el modelo, autocompleta el formulario. Menos errores de tipeo, menos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prueba clave: el caso H2 de la hoja del profesor. La interfaz reproduce los tres valores exactos — 246,88 HP por la ruta TDP, 109,51 HP por la ruta ET y 38,72 HP de rodadura. Sin ajustes a mano: los mismos datos de entrada, el mismo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otras dos calculadoras cierran el ciclo. «Busco equipo» cruza suelo, tamaño de lote y labor, y devuelve tractores y rastras compatibles. «Tengo maquinaria» hace el camino inverso: dada una rastra de 2 metros, calcula la potencia mínima con su desglose — profundidad, pendiente y margen de reserva.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corazón del sistema es el modelo v3: pérdidas encadenadas sobre la potencia del motor, dos rutas de cálculo y la fórmula de Chaparro para implementos. Y no solo calcula: vigila. Si el patinamiento se sale del rango ideal de 7 a 15 por ciento, la interfaz lanza una alerta. Lo probamos en ambos sentidos.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distribución es parte del diseño: un único MaqAgr-Setup.exe basado en Inno Setup lleva la app y PostgreSQL 17 portable. El payload de módulos va en un único zip con autorreparación. Puertos memorables — 24688 y 25435 — y un LÉEME de primeros pasos. Se instala en cualquier PC y funciona sin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Calidad verificable en dos niveles. Antes de la corrida, la compuerta de API: salud ok, 3.043 tractores, 291 implementos, login negativo con 401 y puerto libre. Después, 21 pruebas de navegador — 8 de catálogo, 7 de sesión y 6 de calculadoras — todas en verde. La versión anterior ya había pasado 20 de 20, con informe en docs/.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síntesis: la plataforma funciona, el modelo es correcto frente al caso del profesor, los datos son completos y rastreables, y la entrega es un único instalador. Como trabajo futuro proponemos ampliar las fichas oficiales, sumar labores al modelo y validar a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repetir los tres pilares — el caso H2 reproduce los valores del profesor, 21 de 21 pruebas pasaron, y todo se entrega en un instalador offline.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Diccionario del flujo «Tengo tractor»: cada dato del formulario alimenta un término concreto de la cadena v3 — P_N, P_ALT, P_TEMP, P_ROD, P_PAT y la eficiencia ET (o la ruta TDP con Pmax).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Diccionario del flujo «Tengo maquinaria»: los datos del implemento seleccionan la tabla de tiro y multiplican el tiro específico hasta la potencia requerida P_req = F·V/274,4.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tres resultados verificados — catálogo completo sin campos faltantes, modelo v3 validado con el profesor (caso H2: 246,88 HP) y un único instalador offline con autorreparación. Completar el nombre del sustentante antes de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SUSTENTACIÓN DE PROYECTO · MAQUINARIA AGRÍCOLA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178308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4462272" y="2697480"/>
            <a:ext cx="201168" cy="20116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200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Potencia necesaria para cada combinación tractor–maquinaria, con catálogo verificable. Todo local: funciona sin internet.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5047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4434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0" y="5047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4434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5047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 de Maquinaria Agrícola ·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1417320"/>
            <a:ext cx="448056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4" name="Image 0" descr="C:/Users/elkaw/Desktop/MaqAgr-Local/out/presentacion-work/cover-tr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48" y="1481328"/>
            <a:ext cx="4352544" cy="3758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78040" y="5394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app: “Calcula antes de trabajar el suelo”.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Combinar tractor y maquinaria se decide a ojo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9568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experiencia pura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acople tractor–implemento suele elegirse “por confianza”: si sobra tractor se quema combustible; si falta, se castiga la máquina y el trabajo queda mal.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hoja de cálculo exige precisión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modelo del profesor encadena pérdidas (altitud, temperatura, rodadura, patinamiento) con fórmulas de Zoz, Grisso y Chaparro. A mano, un coeficiente mal tomado cambia todo el resultado.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7000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1772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dispersos e incompletos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fichas comerciales del parque local están repartidas y muchas vienen incompletas: sin peso, sin TDP, sin tipo de tracción.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66560" y="2331720"/>
            <a:ext cx="3749040" cy="1097280"/>
          </a:xfrm>
          <a:prstGeom prst="roundRect">
            <a:avLst>
              <a:gd name="adj" fmla="val 7500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4688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Tractor de 350 HP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¿cuánta potencia llega de verdad a la barra?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41080" y="3502152"/>
            <a:ext cx="0" cy="777240"/>
          </a:xfrm>
          <a:prstGeom prst="line">
            <a:avLst/>
          </a:prstGeom>
          <a:noFill/>
          <a:ln w="25400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897112" y="3401568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A3B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6766560" y="4343400"/>
            <a:ext cx="3749040" cy="1097280"/>
          </a:xfrm>
          <a:prstGeom prst="roundRect">
            <a:avLst>
              <a:gd name="adj" fmla="val 7500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Rastra de 2 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¿puede tirarla este tractor en este suelo?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5760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pregunta que MaqAgr responde con números.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Calcular antes de trabajar el suelo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es una plataforma web local que cruza los datos del tractor y del implemento con el modelo de cálculo validado por el profesor, y entrega el resultado en la interfaz.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712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«Tengo tractor»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Evalúa la potencia que ese tractor entrega en barra, en ese terreno.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95344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130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«Busco equipo»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Recomienda tractores e implementos compatibles entre sí.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919472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3717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«Tengo maquinaria»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 la potencia mínima que exige un implemento dado.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con ficha técnica por modelo: cada número es rastreable.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1627632"/>
            <a:ext cx="5650992" cy="3234690"/>
          </a:xfrm>
          <a:prstGeom prst="roundRect">
            <a:avLst>
              <a:gd name="adj" fmla="val 1979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5" name="Image 0" descr="C:/Users/elkaw/Desktop/MaqAgr-Local/out/gui-v150/catalogo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691640"/>
            <a:ext cx="5522976" cy="310667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89320" y="4935474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Portada de la aplicación: diagnóstico, catálogo y datos del modelo.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capas locales, cero dependencia de internet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039112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Vite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 web y calculadoras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78808" y="2606040"/>
            <a:ext cx="557784" cy="0"/>
          </a:xfrm>
          <a:prstGeom prst="line">
            <a:avLst/>
          </a:prstGeom>
          <a:noFill/>
          <a:ln w="28575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46320" y="187452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2039112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spc="200" kern="0" dirty="0">
                <a:solidFill>
                  <a:srgbClr val="A3B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5 · Node 24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Cálculo y endpoints REST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56448" y="2606040"/>
            <a:ext cx="557784" cy="0"/>
          </a:xfrm>
          <a:prstGeom prst="line">
            <a:avLst/>
          </a:prstGeom>
          <a:noFill/>
          <a:ln w="28575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23960" y="187452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52560" y="2039112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17 portable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y usuarios, incluido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7880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Distribución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único instalador MaqAgr-Setup.exe (Inno Setup): la app y la base de datos viajan juntos.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76672" cy="1554480"/>
          </a:xfrm>
          <a:prstGeom prst="roundRect">
            <a:avLst>
              <a:gd name="adj" fmla="val 5294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17880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Puertos memorables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en 24688 · PostgreSQL en 25435. Fáciles de recordar y lejos de otros servidores locales.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BASE DE DATOS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 tractores y 291 implementos, sin un solo campo faltante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5900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tractores cargados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12998" y="1828800"/>
            <a:ext cx="25900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412998" y="283464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implementos cargados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21558" y="1965960"/>
            <a:ext cx="0" cy="137160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5916" y="1828800"/>
            <a:ext cx="25900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185916" y="283464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fichas oficiales de tractores prioritarios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4476" y="1965960"/>
            <a:ext cx="0" cy="137160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8834" y="1828800"/>
            <a:ext cx="25900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3B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958834" y="283464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campos faltantes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867394" y="1965960"/>
            <a:ext cx="0" cy="137160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DE TRACCIÓN CUBIERTOS POR EL MODELO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298448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348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4x2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29968" y="4434840"/>
            <a:ext cx="1298448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1" name="Text 19"/>
          <p:cNvSpPr/>
          <p:nvPr/>
        </p:nvSpPr>
        <p:spPr>
          <a:xfrm>
            <a:off x="2029968" y="44348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MFWD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11296" y="4434840"/>
            <a:ext cx="1298448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3" name="Text 21"/>
          <p:cNvSpPr/>
          <p:nvPr/>
        </p:nvSpPr>
        <p:spPr>
          <a:xfrm>
            <a:off x="3511296" y="44348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4x4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92624" y="4434840"/>
            <a:ext cx="1298448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5" name="Text 23"/>
          <p:cNvSpPr/>
          <p:nvPr/>
        </p:nvSpPr>
        <p:spPr>
          <a:xfrm>
            <a:off x="4992624" y="44348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Oruga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31 tractores prioritarios tienen ficha técnica oficial del fabricante: los casos de la sustentación se apoyan en esos datos.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Fuente: compuerta de API de la corrida de verificación (TRACTORES: 3043 · IMPLEMENTOS: 291).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catálogo, en vivo: búsqueda, filtros e imágenes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3116390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7" name="Image 0" descr="C:/Users/elkaw/Desktop/MaqAgr-Local/out/gui-v150/catalogo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55648"/>
            <a:ext cx="5312664" cy="2988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8118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Grilla de tractores con tarjetas, HP por modelo y ficha técnica.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40680" cy="3116390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0" name="Image 1" descr="C:/Users/elkaw/Desktop/MaqAgr-Local/out/gui-v150/catalogo-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755648"/>
            <a:ext cx="5312664" cy="2988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488118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Búsqueda “Belarus”: la grilla se filtra al instante y ofrece la ficha de cada modelo.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257800"/>
            <a:ext cx="3520440" cy="457200"/>
          </a:xfrm>
          <a:prstGeom prst="roundRect">
            <a:avLst>
              <a:gd name="adj" fmla="val 18000"/>
            </a:avLst>
          </a:prstGeom>
          <a:solidFill>
            <a:srgbClr val="F4F6EC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5257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Búsqueda por nombre o modelo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51960" y="5257800"/>
            <a:ext cx="3520440" cy="457200"/>
          </a:xfrm>
          <a:prstGeom prst="roundRect">
            <a:avLst>
              <a:gd name="adj" fmla="val 18000"/>
            </a:avLst>
          </a:prstGeom>
          <a:solidFill>
            <a:srgbClr val="F4F6EC"/>
          </a:solidFill>
          <a:ln/>
        </p:spPr>
      </p:sp>
      <p:sp>
        <p:nvSpPr>
          <p:cNvPr id="15" name="Text 11"/>
          <p:cNvSpPr/>
          <p:nvPr/>
        </p:nvSpPr>
        <p:spPr>
          <a:xfrm>
            <a:off x="4251960" y="5257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de marca y potencia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55280" y="5257800"/>
            <a:ext cx="3520440" cy="457200"/>
          </a:xfrm>
          <a:prstGeom prst="roundRect">
            <a:avLst>
              <a:gd name="adj" fmla="val 18000"/>
            </a:avLst>
          </a:prstGeom>
          <a:solidFill>
            <a:srgbClr val="F4F6EC"/>
          </a:solidFill>
          <a:ln/>
        </p:spPr>
      </p:sp>
      <p:sp>
        <p:nvSpPr>
          <p:cNvPr id="17" name="Text 13"/>
          <p:cNvSpPr/>
          <p:nvPr/>
        </p:nvSpPr>
        <p:spPr>
          <a:xfrm>
            <a:off x="7955280" y="5257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Paginación e imágenes verificadas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5870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catálogo: 8 de 8 aprobadas en esta corrida.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 Y USUARIOS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y login con validaciones reales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989320" cy="342500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7" name="Image 0" descr="C:/Users/elkaw/Desktop/MaqAgr-Local/out/gui-v150/sesio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55648"/>
            <a:ext cx="5861304" cy="32969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189792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Contraseña débil rechazada en el registro.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12280" y="1691640"/>
            <a:ext cx="4846320" cy="2782062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0" name="Image 1" descr="C:/Users/elkaw/Desktop/MaqAgr-Local/out/gui-v150/sesion-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755648"/>
            <a:ext cx="4718304" cy="26540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12280" y="454685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Ingreso y reingreso tras cerrar sesión.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6144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55321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completo verificado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Registro, sesión activa, cierre y reingreso con la misma cuenta; el login con contraseña incorrecta se rechaza con HTTP 401.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CALCULADORA 1 · «TENGO TRACTOR»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buscador flotante autocompleta los datos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452360" cy="4247960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7" name="Image 0" descr="C:/Users/elkaw/Desktop/MaqAgr-Local/out/gui-v150/calculadora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55648"/>
            <a:ext cx="7324344" cy="4119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012752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Ventana flotante sobre el formulario: lista el catálogo con HP y peso de cada modelo.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21040" y="1828800"/>
            <a:ext cx="384048" cy="384048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0" name="Text 7"/>
          <p:cNvSpPr/>
          <p:nvPr/>
        </p:nvSpPr>
        <p:spPr>
          <a:xfrm>
            <a:off x="83210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51392" y="1792224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y filtra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nombre, marca o potencia de motor.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321040" y="3246120"/>
            <a:ext cx="384048" cy="384048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3" name="Text 10"/>
          <p:cNvSpPr/>
          <p:nvPr/>
        </p:nvSpPr>
        <p:spPr>
          <a:xfrm>
            <a:off x="83210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851392" y="3209544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 el catálogo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191 páginas de resultados paginados.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21040" y="4663440"/>
            <a:ext cx="384048" cy="384048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6" name="Text 13"/>
          <p:cNvSpPr/>
          <p:nvPr/>
        </p:nvSpPr>
        <p:spPr>
          <a:xfrm>
            <a:off x="83210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51392" y="4626864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Elige el modelo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formulario se rellena solo con sus datos.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· CASO H2 DEL PROFESOR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caso H2 se reproduce exacto por la interfaz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246,88 HP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P_BDT por la ruta TDP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374904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358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109,51 HP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36941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P_BDT por la ruta 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96512"/>
            <a:ext cx="374904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428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38,72 HP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" y="4901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P_ROD — rodadura y pendiente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Mismo tractor, mismo terreno, mismos coeficientes: la interfaz devuelve los valores de la hoja del profesor.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92040" y="1691640"/>
            <a:ext cx="6748272" cy="3851910"/>
          </a:xfrm>
          <a:prstGeom prst="roundRect">
            <a:avLst>
              <a:gd name="adj" fmla="val 1662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6" name="Image 0" descr="C:/Users/elkaw/Desktop/MaqAgr-Local/out/gui-v150/calculadoras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755648"/>
            <a:ext cx="6620256" cy="372389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92040" y="5616702"/>
            <a:ext cx="6748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en vivo: 109,51 HP útiles en barra con la cadena de cálculo completa visible.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CALCULADORAS 2 Y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«Busco equipo» y «Tengo maquinaria»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3116390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7" name="Image 0" descr="C:/Users/elkaw/Desktop/MaqAgr-Local/out/gui-v150/calculadoras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55648"/>
            <a:ext cx="5312664" cy="2988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8118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«Busco equipo»: compatibilidad con 20 resultados — 10 tractores y 10 rastras.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40680" cy="3116390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0" name="Image 1" descr="C:/Users/elkaw/Desktop/MaqAgr-Local/out/gui-v150/calculadoras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755648"/>
            <a:ext cx="5312664" cy="2988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488118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«Tengo maquinaria»: rastra de 2 m en suelo franco exige 64,4 HP, con margen de reserva del 15 % (+8,4 HP).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66013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55778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las dos direcciones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tractor al implemento (recomendaciones coordinadas) y del implemento al tractor (potencia requerida con desglose por factor).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CÁLCULO V3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Zoz, Grisso y Chaparro, con alerta de patinamiento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81965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Pérdidas encadenadas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Atmosférica, por temperatura, rodadura y patinamiento, aplicadas en orden sobre la potencia del motor.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rutas de cálculo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(eficiencia de tracción) y TDP (toma de fuerza), ambas visibles en la interfaz.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3133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Fórmula de Chaparro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Rastra 26″ de 2 m en arcilla a 7,5 km/h → 54,75 HP en la barra.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5212080" cy="1143000"/>
          </a:xfrm>
          <a:prstGeom prst="roundRect">
            <a:avLst>
              <a:gd name="adj" fmla="val 7200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50109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Rango ideal de patinamiento: 7–15 %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Verificado: con 25 % la alerta aparece; con 12 % (dentro del rango) no aparece.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532120" cy="3167825"/>
          </a:xfrm>
          <a:prstGeom prst="roundRect">
            <a:avLst>
              <a:gd name="adj" fmla="val 2021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5" name="Image 0" descr="C:/Users/elkaw/Desktop/MaqAgr-Local/out/gui-v150/calculadoras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88" y="1801368"/>
            <a:ext cx="5404104" cy="303980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26480" y="4978337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Patinamiento alto: la pérdida P_PAT sube a 80,5 HP y la ruta TDP marca 246,88 HP en barra.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instalador para cualquier PC, sin internet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3291840" cy="1965960"/>
          </a:xfrm>
          <a:prstGeom prst="roundRect">
            <a:avLst>
              <a:gd name="adj" fmla="val 4186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48840"/>
            <a:ext cx="402336" cy="402336"/>
          </a:xfrm>
          <a:prstGeom prst="ellipse">
            <a:avLst/>
          </a:prstGeom>
          <a:solidFill>
            <a:srgbClr val="6F831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7004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MaqAgr-Setup.exe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Instalador único de Inno Setup: app y base de datos viajan juntos.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069080" y="2903220"/>
            <a:ext cx="475488" cy="0"/>
          </a:xfrm>
          <a:prstGeom prst="line">
            <a:avLst/>
          </a:prstGeom>
          <a:noFill/>
          <a:ln w="28575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36008" y="1920240"/>
            <a:ext cx="3291840" cy="1965960"/>
          </a:xfrm>
          <a:prstGeom prst="roundRect">
            <a:avLst>
              <a:gd name="adj" fmla="val 4186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2148840"/>
            <a:ext cx="402336" cy="402336"/>
          </a:xfrm>
          <a:prstGeom prst="ellipse">
            <a:avLst/>
          </a:prstGeom>
          <a:solidFill>
            <a:srgbClr val="6F831C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64608" y="267004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 en un único zip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módulos se extraen localmente, con autorreparación si algo falta.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9288" y="2903220"/>
            <a:ext cx="475488" cy="0"/>
          </a:xfrm>
          <a:prstGeom prst="line">
            <a:avLst/>
          </a:prstGeom>
          <a:noFill/>
          <a:ln w="28575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86216" y="1920240"/>
            <a:ext cx="3291840" cy="1965960"/>
          </a:xfrm>
          <a:prstGeom prst="roundRect">
            <a:avLst>
              <a:gd name="adj" fmla="val 4186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14816" y="2148840"/>
            <a:ext cx="402336" cy="402336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8" name="Text 16"/>
          <p:cNvSpPr/>
          <p:nvPr/>
        </p:nvSpPr>
        <p:spPr>
          <a:xfrm>
            <a:off x="8814816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14816" y="267004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Listo para trabajar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en el puerto 24688 y PostgreSQL en 25435, 100 % offline.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720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Pensado para la sustentación y el campo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Incluye un LÉEME de primeros pasos; no requiere conexión ni cuentas externas: se instala y funciona.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3291840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440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instalador · todo adentro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69080" y="5440680"/>
            <a:ext cx="3291840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5440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Autorreparación del payload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5440680"/>
            <a:ext cx="3291840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5440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 offline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de 21 pruebas de navegador en verde</a:t>
            </a:r>
            <a:endParaRPr lang="en-US" sz="2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760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49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aprobadas por área (corrida de verificación sobre la versión actual).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20840" y="1828800"/>
            <a:ext cx="4892040" cy="3063240"/>
          </a:xfrm>
          <a:prstGeom prst="roundRect">
            <a:avLst>
              <a:gd name="adj" fmla="val 2687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20299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COMPUERTA DE API (ANTES DE LA CORRIDA)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9516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50976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95160" y="2798064"/>
            <a:ext cx="434340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28712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TRACTORES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50976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95160" y="3273552"/>
            <a:ext cx="434340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3346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IMPLEMENTOS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509760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995160" y="3749040"/>
            <a:ext cx="434340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3822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negativo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509760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401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995160" y="4224528"/>
            <a:ext cx="434340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9516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Puerto 4000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50976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20840" y="50749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Versión anterior: 20/20 pruebas de navegador (informe en docs/ del repositorio). Capturas de esta corrida: out/gui-v150/.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y trabajo futuro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QUEDA DEMOSTRADO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21031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de verdad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Catálogo, sesión y tres calculadoras verificadas en el navegador: 21/21 en verde.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09067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modelo es correcto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caso H2 del profesor se reproduce exacto: 246,88 · 109,51 · 38,72 HP.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96512"/>
            <a:ext cx="365760" cy="36576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4078224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datos son rastreables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 tractores y 291 implementos completos, con fichas oficiales en los prioritarios.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365760" cy="36576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5065776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entrega solo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instalador offline con puertos memorables y LÉEME de primeros pasos.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1691640"/>
            <a:ext cx="5148072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5875">
            <a:solidFill>
              <a:srgbClr val="6F83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93852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TRABAJO FUTURO (PROPUESTAS)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12280" y="2478024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2395728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Ampliar las fichas oficiales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Llevar las 31 fichas de fabricante al resto del catálogo prioritario.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12280" y="3712464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3630168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labores e implementos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Sumar tipos de trabajo al modelo (siembra, cosecha, pulverización).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12280" y="4946904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4864608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a campo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Contrastar los cálculos con mediciones reales de tractor e implemento.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3749040" y="2743200"/>
            <a:ext cx="182880" cy="182880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 — ¿preguntas?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3246120" cy="502920"/>
          </a:xfrm>
          <a:prstGeom prst="roundRect">
            <a:avLst>
              <a:gd name="adj" fmla="val 16364"/>
            </a:avLst>
          </a:prstGeom>
          <a:solidFill>
            <a:srgbClr val="263A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480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H2 reproducido exacto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4480560"/>
            <a:ext cx="3246120" cy="502920"/>
          </a:xfrm>
          <a:prstGeom prst="roundRect">
            <a:avLst>
              <a:gd name="adj" fmla="val 16364"/>
            </a:avLst>
          </a:prstGeom>
          <a:solidFill>
            <a:srgbClr val="263A50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4480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21/21 pruebas en verde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4480560"/>
            <a:ext cx="3246120" cy="502920"/>
          </a:xfrm>
          <a:prstGeom prst="roundRect">
            <a:avLst>
              <a:gd name="adj" fmla="val 16364"/>
            </a:avLst>
          </a:prstGeom>
          <a:solidFill>
            <a:srgbClr val="263A50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4480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instalador · 100 % offline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 de Maquinaria Agrícola · 2026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MaqAgr · Sustentación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641908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6F831C"/>
                </a:solidFill>
                <a:latin typeface="Segoe UI"/>
                <a:cs typeface="Segoe UI"/>
                <a:ea typeface="Segoe UI"/>
              </a:rPr>
              <a:t>DICCIONARIO DE DATOS · FLUJO «TENGO TRACTOR» (POTENCIA DISPONIBLE)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Para qué sirve cada dato que pide la aplicación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6F831C"/>
                </a:solidFill>
                <a:latin typeface="Segoe UI"/>
                <a:cs typeface="Segoe UI"/>
                <a:ea typeface="Segoe UI"/>
              </a:rPr>
              <a:t>DATO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554480"/>
            <a:ext cx="757397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6F831C"/>
                </a:solidFill>
                <a:latin typeface="Segoe UI"/>
                <a:cs typeface="Segoe UI"/>
                <a:ea typeface="Segoe UI"/>
              </a:rPr>
              <a:t>PARA QUÉ SIRVE · DÓNDE ENTRA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3291840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Potencia bruta del motor P_B (hp)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865376"/>
            <a:ext cx="7573975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Base de toda la cadena: P_N = 0,92·P_B (relación bruta→neta, Fig. 43 de Zoz &amp; Grisso)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140294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188197"/>
            <a:ext cx="3291840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Peso del tractor W (kg)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188197"/>
            <a:ext cx="7573975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Fuerza en la fórmula de rodadura+pendiente: P_ROD = W·V·(ρ·cos α + sen α)/274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463116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511019"/>
            <a:ext cx="3291840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Altitud (m s.n.m.)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511019"/>
            <a:ext cx="7573975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Pérdida por aire enrarecido: P_ALT = (A/300)·1%·P_N — solo motores aspirados y solo si A &gt; 300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785938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2833841"/>
            <a:ext cx="3291840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Temperatura ambiente (°C)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833841"/>
            <a:ext cx="7573975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Pérdida térmica: P_TEMP = ((T−15)/5)·1%·P_N — solo aspirados y solo si T &gt; 15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3108760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156663"/>
            <a:ext cx="3291840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Pendiente 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156663"/>
            <a:ext cx="7573975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Dentro de P_ROD: sen α con α = atan(p/100) — subir cuesta suma resistencia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431582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3479485"/>
            <a:ext cx="3291840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Velocidad de avance V (km/h)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479485"/>
            <a:ext cx="7573975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Multiplicador de P_ROD (a mayor velocidad, más potencia se pierde en rodar)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754404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3802307"/>
            <a:ext cx="3291840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Tracción (4x2 / MFWD / 4x4 / oruga)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3802307"/>
            <a:ext cx="7573975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Selecciona la FILA de la tabla de eficiencia de Zoz y la columna de ρ para oruga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077226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4125129"/>
            <a:ext cx="3291840" cy="490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Condición del suelo (bueno/medio/malo)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125129"/>
            <a:ext cx="7573975" cy="490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Eficiencia de entrega eje→barra ET (Fig. 47: 2WD 0,75/0,70/0,57 · MFWD 0,79/0,75/0,66 · 4WD 0,80/0,78/0,73 · oruga 0,85/0,83/0,81): P_BDT = P_EJE·ET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627063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4674966"/>
            <a:ext cx="3291840" cy="490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Superficie de rodadura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4674966"/>
            <a:ext cx="7573975" cy="4906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Coeficiente ρ (lámina 26: concreto 0,02–0,03 … arena suelta seca 0,35): resistencia al avance del tractor — reemplazó al Cn por indicación del profesor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176900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5224804"/>
            <a:ext cx="3291840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Patinamiento (%)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5224804"/>
            <a:ext cx="7573975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P_PAT = pat%·P_N, restado dentro del corchete (dato del ejercicio, H2: 12 %)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5499722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5547626"/>
            <a:ext cx="3291840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Pmax TDP (opcional)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5547626"/>
            <a:ext cx="7573975" cy="26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Ruta paralela de la TDF: P_BDT(TDP) = 0,96·TDP − P_ROD; si se deja vacío se estima 0,85·P_B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8017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Cada dato del formulario entra en un término concreto de la cadena de cálculo: nada es decorativo.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MaqAgr · Sustentación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1535" y="641908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6F831C"/>
                </a:solidFill>
                <a:latin typeface="Segoe UI"/>
                <a:cs typeface="Segoe UI"/>
                <a:ea typeface="Segoe UI"/>
              </a:rPr>
              <a:t>DICCIONARIO DE DATOS · FLUJO «TENGO MAQUINARIA» (POTENCIA REQUERIDA)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Para qué sirve cada dato que pide la aplicación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6F831C"/>
                </a:solidFill>
                <a:latin typeface="Segoe UI"/>
                <a:cs typeface="Segoe UI"/>
                <a:ea typeface="Segoe UI"/>
              </a:rPr>
              <a:t>DATO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554480"/>
            <a:ext cx="757397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6F831C"/>
                </a:solidFill>
                <a:latin typeface="Segoe UI"/>
                <a:cs typeface="Segoe UI"/>
                <a:ea typeface="Segoe UI"/>
              </a:rPr>
              <a:t>PARA QUÉ SIRVE · DÓNDE ENTRA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56541"/>
            <a:ext cx="3291840" cy="528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Tipo de implemento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956541"/>
            <a:ext cx="7573975" cy="528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Selecciona la tabla de tiro específica del apero (kgf/cm·rejilla, kgf/m de ancho o kgf/surco, lámina 17 y tablas del profesor)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567279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686151"/>
            <a:ext cx="3291840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Ancho de trabajo (m)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686151"/>
            <a:ext cx="7573975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Multiplica el tiro específico (kgf/m × ancho)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050956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169828"/>
            <a:ext cx="3291840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Profundidad (cm)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169828"/>
            <a:ext cx="7573975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Arado cincel: tiro por cm de profundidad por rejilla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534633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653505"/>
            <a:ext cx="3291840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N° de rejillas o surcos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653505"/>
            <a:ext cx="7573975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Multiplica el tiro unitario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018310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137182"/>
            <a:ext cx="3291840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Peso del implemento (kg)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137182"/>
            <a:ext cx="7573975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Rodadura propia del apero: R_r = (1,2/Cn + 0,04)·peso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501987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4620859"/>
            <a:ext cx="3291840" cy="528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Tipo de suelo (arena/limo/arcilla)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620859"/>
            <a:ext cx="7573975" cy="528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Columna de la tabla de tiro del apero + Cn de la lámina 17 (duro 50 · firme 30 · labrado 20 · suelto 10)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231597"/>
            <a:ext cx="11094415" cy="0"/>
          </a:xfrm>
          <a:prstGeom prst="line">
            <a:avLst/>
          </a:prstGeom>
          <a:ln w="12700">
            <a:solidFill>
              <a:srgbClr val="DDE3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350469"/>
            <a:ext cx="3291840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Segoe UI"/>
                <a:cs typeface="Segoe UI"/>
                <a:ea typeface="Segoe UI"/>
              </a:rPr>
              <a:t>Velocidad de trabajo (km/h)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5350469"/>
            <a:ext cx="7573975" cy="282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Potencia requerida: P_req = F·V/274,4 (ec. 6 de Chaparro)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017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6B7A"/>
                </a:solidFill>
                <a:latin typeface="Segoe UI"/>
                <a:cs typeface="Segoe UI"/>
                <a:ea typeface="Segoe UI"/>
              </a:rPr>
              <a:t>Cada dato del formulario entra en un término concreto de la cadena de cálculo: nada es decorativo.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554480"/>
            <a:ext cx="63093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MaqAgr</a:t>
            </a:r>
          </a:p>
        </p:txBody>
      </p:sp>
      <p:sp>
        <p:nvSpPr>
          <p:cNvPr id="3" name="Oval 2"/>
          <p:cNvSpPr/>
          <p:nvPr/>
        </p:nvSpPr>
        <p:spPr>
          <a:xfrm>
            <a:off x="4462272" y="2468880"/>
            <a:ext cx="201168" cy="201168"/>
          </a:xfrm>
          <a:prstGeom prst="ellipse">
            <a:avLst/>
          </a:prstGeom>
          <a:solidFill>
            <a:srgbClr val="A3B7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DDE5C9"/>
                </a:solidFill>
                <a:latin typeface="Segoe UI"/>
                <a:cs typeface="Segoe UI"/>
                <a:ea typeface="Segoe UI"/>
              </a:rPr>
              <a:t>Proyecto de grado — Sustentación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895344"/>
            <a:ext cx="128016" cy="128016"/>
          </a:xfrm>
          <a:prstGeom prst="ellipse">
            <a:avLst/>
          </a:prstGeom>
          <a:solidFill>
            <a:srgbClr val="A3B7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794760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Catálogo de 3.043 tractores</a:t>
            </a:r>
            <a:r>
              <a:rPr sz="1500" b="0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 con cero campos faltantes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443984"/>
            <a:ext cx="128016" cy="128016"/>
          </a:xfrm>
          <a:prstGeom prst="ellipse">
            <a:avLst/>
          </a:prstGeom>
          <a:solidFill>
            <a:srgbClr val="A3B7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343400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Modelo de cálculo v3 validado con el profesor</a:t>
            </a:r>
            <a:r>
              <a:rPr sz="1500" b="0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 — caso H2 exacto 246,88 HP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92624"/>
            <a:ext cx="128016" cy="128016"/>
          </a:xfrm>
          <a:prstGeom prst="ellipse">
            <a:avLst/>
          </a:prstGeom>
          <a:solidFill>
            <a:srgbClr val="A3B7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Distribuido en un único instalador offline MaqAgr-Setup.exe</a:t>
            </a:r>
            <a:r>
              <a:rPr sz="1500" b="0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 con autorreparación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3212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263A5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0" i="0">
                <a:solidFill>
                  <a:srgbClr val="DDE5C9"/>
                </a:solidFill>
                <a:latin typeface="Segoe UI"/>
                <a:cs typeface="Segoe UI"/>
                <a:ea typeface="Segoe UI"/>
              </a:rPr>
              <a:t>Sustentante: [completar nombre]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MaqAgr — Sustentación de proyecto</dc:title>
  <dc:subject>PptxGenJS Presentation</dc:subject>
  <dc:creator>Equipo de Maquinaria Agrícola</dc:creator>
  <cp:lastModifiedBy>Equipo de Maquinaria Agrícola</cp:lastModifiedBy>
  <cp:revision>1</cp:revision>
  <dcterms:created xsi:type="dcterms:W3CDTF">2026-10-24T08:15:53Z</dcterms:created>
  <dcterms:modified xsi:type="dcterms:W3CDTF">2026-10-24T08:15:53Z</dcterms:modified>
</cp:coreProperties>
</file>